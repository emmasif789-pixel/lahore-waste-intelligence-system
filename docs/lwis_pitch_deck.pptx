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8202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8202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5" name="Image 0" descr="icons/map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892454"/>
            <a:ext cx="592531" cy="5925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LAHORE WASTE INTELLIGENCE SYSTEM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intelligence layer for Lahore’s waste problem — not another reporting app.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Hackathon Lahore — Clean City + City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Lahore doesn’t just have a waste problem — it has an information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5" name="Image 0" descr="icons/search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" y="2050999"/>
            <a:ext cx="396850" cy="396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record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31343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Dumping sites are reported reactively, one complaint at a time, with no unified view of where they are or how bad they’ve gotten.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566928" cy="566928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9" name="Image 1" descr="icons/route_0A0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" y="3468319"/>
            <a:ext cx="396850" cy="396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3355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prioritization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73075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hotspot looks the same to whoever has to decide what gets cleaned first — there’s no way to compare urgency across the city.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13" name="Image 2" descr="icons/fire_0A0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" y="4885639"/>
            <a:ext cx="396850" cy="3968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7731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hazard risk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514807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burning and hazardous waste often go untracked entirely, even though they carry the highest public-health cost.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0" y="1965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2084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F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8" name="Text 13"/>
          <p:cNvSpPr txBox="1"/>
          <p:nvPr/>
        </p:nvSpPr>
        <p:spPr>
          <a:xfrm>
            <a:off x="6903720" y="288036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hotspots are reported reactively, decisions are fragmented, and city teams don’t have a unified intelligence layer showing where attention is needed most.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690372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gap LWIS closes.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pillars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city-operations-grade waste intelligence platform — mapping, AI analysis, and prioritization working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60320"/>
            <a:ext cx="777240" cy="7772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7" name="Image 0" descr="icons/map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706" y="2676906"/>
            <a:ext cx="544068" cy="5440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Intelligence Map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hotspot mapped and scored by severity, with area-level rollups explaining why a zone is a priority.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1945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2560320"/>
            <a:ext cx="777240" cy="77724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12" name="Image 1" descr="icons/camera_0A0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86" y="2676906"/>
            <a:ext cx="544068" cy="5440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Waste Vision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becomes structured data: waste categories, recoverable share, hazard indicators, and confidence — in seconds.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21945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41080" y="2560320"/>
            <a:ext cx="777240" cy="7772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17" name="Image 2" descr="icons/gauge_0A0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666" y="2676906"/>
            <a:ext cx="544068" cy="5440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108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 Priority Engine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4108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0–10 score from severity, recurrence, proximity, and hazard — auditable, not a black box.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photo to a prioritized city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41B24"/>
          </a:solidFill>
          <a:ln w="15875">
            <a:solidFill>
              <a:srgbClr val="CF9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633472"/>
            <a:ext cx="585216" cy="585216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6" name="Image 0" descr="icons/map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482" y="2715402"/>
            <a:ext cx="421356" cy="4213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050" dirty="0"/>
          </a:p>
        </p:txBody>
      </p:sp>
      <p:pic>
        <p:nvPicPr>
          <p:cNvPr id="8" name="Image 1" descr="icons/arrow_5B6B7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88" y="303580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94560" y="24688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41B24"/>
          </a:solidFill>
          <a:ln w="15875">
            <a:solidFill>
              <a:srgbClr val="3FB6A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587752" y="2633472"/>
            <a:ext cx="585216" cy="585216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11" name="Image 2" descr="icons/pin_0A0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682" y="2715402"/>
            <a:ext cx="421356" cy="4213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0574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50" dirty="0"/>
          </a:p>
        </p:txBody>
      </p:sp>
      <p:pic>
        <p:nvPicPr>
          <p:cNvPr id="13" name="Image 3" descr="icons/arrow_5B6B7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88" y="303580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94760" y="24688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41B24"/>
          </a:solidFill>
          <a:ln w="15875">
            <a:solidFill>
              <a:srgbClr val="CF9A3E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187952" y="2633472"/>
            <a:ext cx="585216" cy="585216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16" name="Image 4" descr="icons/bullseye_0A0E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9882" y="2715402"/>
            <a:ext cx="421356" cy="4213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6576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1050" dirty="0"/>
          </a:p>
        </p:txBody>
      </p:sp>
      <p:pic>
        <p:nvPicPr>
          <p:cNvPr id="18" name="Image 5" descr="icons/arrow_5B6B7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1788" y="303580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394960" y="24688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41B24"/>
          </a:solidFill>
          <a:ln w="15875">
            <a:solidFill>
              <a:srgbClr val="3FB6A8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788152" y="2633472"/>
            <a:ext cx="585216" cy="585216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21" name="Image 6" descr="icons/camera_0A0E1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082" y="2715402"/>
            <a:ext cx="421356" cy="42135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2578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50" dirty="0"/>
          </a:p>
        </p:txBody>
      </p:sp>
      <p:pic>
        <p:nvPicPr>
          <p:cNvPr id="23" name="Image 7" descr="icons/arrow_5B6B7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988" y="303580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995160" y="24688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41B24"/>
          </a:solidFill>
          <a:ln w="15875">
            <a:solidFill>
              <a:srgbClr val="CF9A3E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7388352" y="2633472"/>
            <a:ext cx="585216" cy="585216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26" name="Image 8" descr="icons/brain_0A0E1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0282" y="2715402"/>
            <a:ext cx="421356" cy="421356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8580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waste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pic>
        <p:nvPicPr>
          <p:cNvPr id="28" name="Image 9" descr="icons/arrow_5B6B7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2188" y="3035808"/>
            <a:ext cx="237744" cy="237744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595360" y="24688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41B24"/>
          </a:solidFill>
          <a:ln w="15875">
            <a:solidFill>
              <a:srgbClr val="3FB6A8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8988552" y="2633472"/>
            <a:ext cx="585216" cy="585216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31" name="Image 10" descr="icons/gauge_0A0E1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482" y="2715402"/>
            <a:ext cx="421356" cy="421356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4582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pic>
        <p:nvPicPr>
          <p:cNvPr id="33" name="Image 11" descr="icons/arrow_5B6B7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2388" y="3035808"/>
            <a:ext cx="237744" cy="237744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10195560" y="24688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41B24"/>
          </a:solidFill>
          <a:ln w="15875">
            <a:solidFill>
              <a:srgbClr val="CF9A3E"/>
            </a:solidFill>
            <a:prstDash val="solid"/>
          </a:ln>
        </p:spPr>
      </p:sp>
      <p:sp>
        <p:nvSpPr>
          <p:cNvPr id="35" name="Shape 21"/>
          <p:cNvSpPr/>
          <p:nvPr/>
        </p:nvSpPr>
        <p:spPr>
          <a:xfrm>
            <a:off x="10588752" y="2633472"/>
            <a:ext cx="585216" cy="585216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36" name="Image 12" descr="icons/check_0A0E1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70682" y="2715402"/>
            <a:ext cx="421356" cy="421356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100584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intel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050" dirty="0"/>
          </a:p>
        </p:txBody>
      </p:sp>
      <p:sp>
        <p:nvSpPr>
          <p:cNvPr id="38" name="Shape 23"/>
          <p:cNvSpPr/>
          <p:nvPr/>
        </p:nvSpPr>
        <p:spPr>
          <a:xfrm>
            <a:off x="640080" y="46634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39" name="Text 24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updates real, shared data — not just your own screen. A report submitted from one phone shows up on the city dashboard everyone else is looking at, immediately.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cleanup priority score you can actually audit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"smart city" scores are black boxes. Ours is six weighted, visible factors — every number traceable back to real data.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WEIGHTS (OUT OF 10)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226771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82029"/>
          </a:solidFill>
          <a:ln/>
        </p:spPr>
      </p:sp>
      <p:sp>
        <p:nvSpPr>
          <p:cNvPr id="8" name="Shape 6"/>
          <p:cNvSpPr/>
          <p:nvPr/>
        </p:nvSpPr>
        <p:spPr>
          <a:xfrm>
            <a:off x="2880360" y="226771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E448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80360" y="2834640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82029"/>
          </a:solidFill>
          <a:ln/>
        </p:spPr>
      </p:sp>
      <p:sp>
        <p:nvSpPr>
          <p:cNvPr id="11" name="Shape 9"/>
          <p:cNvSpPr/>
          <p:nvPr/>
        </p:nvSpPr>
        <p:spPr>
          <a:xfrm>
            <a:off x="2880360" y="2834640"/>
            <a:ext cx="2804160" cy="256032"/>
          </a:xfrm>
          <a:prstGeom prst="roundRect">
            <a:avLst>
              <a:gd name="adj" fmla="val 17857"/>
            </a:avLst>
          </a:prstGeom>
          <a:solidFill>
            <a:srgbClr val="E38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3741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sensitive sites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80360" y="3401568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82029"/>
          </a:solidFill>
          <a:ln/>
        </p:spPr>
      </p:sp>
      <p:sp>
        <p:nvSpPr>
          <p:cNvPr id="14" name="Shape 12"/>
          <p:cNvSpPr/>
          <p:nvPr/>
        </p:nvSpPr>
        <p:spPr>
          <a:xfrm>
            <a:off x="2880360" y="3401568"/>
            <a:ext cx="2804160" cy="256032"/>
          </a:xfrm>
          <a:prstGeom prst="roundRect">
            <a:avLst>
              <a:gd name="adj" fmla="val 17857"/>
            </a:avLst>
          </a:prstGeom>
          <a:solidFill>
            <a:srgbClr val="CF9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9410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Waste-type risk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3968496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82029"/>
          </a:solidFill>
          <a:ln/>
        </p:spPr>
      </p:sp>
      <p:sp>
        <p:nvSpPr>
          <p:cNvPr id="17" name="Shape 15"/>
          <p:cNvSpPr/>
          <p:nvPr/>
        </p:nvSpPr>
        <p:spPr>
          <a:xfrm>
            <a:off x="2880360" y="3968496"/>
            <a:ext cx="1402080" cy="256032"/>
          </a:xfrm>
          <a:prstGeom prst="roundRect">
            <a:avLst>
              <a:gd name="adj" fmla="val 17857"/>
            </a:avLst>
          </a:prstGeom>
          <a:solidFill>
            <a:srgbClr val="3FB6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507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/ burning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80360" y="4535424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82029"/>
          </a:solidFill>
          <a:ln/>
        </p:spPr>
      </p:sp>
      <p:sp>
        <p:nvSpPr>
          <p:cNvPr id="20" name="Shape 18"/>
          <p:cNvSpPr/>
          <p:nvPr/>
        </p:nvSpPr>
        <p:spPr>
          <a:xfrm>
            <a:off x="2880360" y="4535424"/>
            <a:ext cx="1822704" cy="256032"/>
          </a:xfrm>
          <a:prstGeom prst="roundRect">
            <a:avLst>
              <a:gd name="adj" fmla="val 17857"/>
            </a:avLst>
          </a:prstGeom>
          <a:solidFill>
            <a:srgbClr val="E448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trend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80360" y="510235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82029"/>
          </a:solidFill>
          <a:ln/>
        </p:spPr>
      </p:sp>
      <p:sp>
        <p:nvSpPr>
          <p:cNvPr id="23" name="Shape 21"/>
          <p:cNvSpPr/>
          <p:nvPr/>
        </p:nvSpPr>
        <p:spPr>
          <a:xfrm>
            <a:off x="2880360" y="5102352"/>
            <a:ext cx="701040" cy="256032"/>
          </a:xfrm>
          <a:prstGeom prst="roundRect">
            <a:avLst>
              <a:gd name="adj" fmla="val 17857"/>
            </a:avLst>
          </a:prstGeom>
          <a:solidFill>
            <a:srgbClr val="4FAE64"/>
          </a:solidFill>
          <a:ln/>
        </p:spPr>
      </p:sp>
      <p:sp>
        <p:nvSpPr>
          <p:cNvPr id="24" name="Shape 22"/>
          <p:cNvSpPr/>
          <p:nvPr/>
        </p:nvSpPr>
        <p:spPr>
          <a:xfrm>
            <a:off x="7452360" y="1920240"/>
            <a:ext cx="4069080" cy="4160520"/>
          </a:xfrm>
          <a:prstGeom prst="roundRect">
            <a:avLst>
              <a:gd name="adj" fmla="val 2697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</a:t>
            </a:r>
            <a:endParaRPr lang="en-US" sz="6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 — Critical priority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3886200"/>
            <a:ext cx="3429000" cy="0"/>
          </a:xfrm>
          <a:prstGeom prst="line">
            <a:avLst/>
          </a:prstGeom>
          <a:noFill/>
          <a:ln w="12700">
            <a:solidFill>
              <a:srgbClr val="2531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Hazardous handling required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4348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 hazard-certified crew before general collection; open burning flagged to the environment desk in parallel.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WASTE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photo becomes an operational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6" name="Image 0" descr="icons/camera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706" y="2402586"/>
            <a:ext cx="544068" cy="5440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photo report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246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auto-detected • timestamp logged • no manual form filling</a:t>
            </a:r>
            <a:endParaRPr lang="en-US" sz="1200" dirty="0"/>
          </a:p>
        </p:txBody>
      </p:sp>
      <p:pic>
        <p:nvPicPr>
          <p:cNvPr id="9" name="Image 1" descr="icons/arrow_3FB6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063240" y="41148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45720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 vision-capable AI model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read waste composition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street-level photo.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0" y="19659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182029"/>
          </a:solidFill>
          <a:ln w="15875">
            <a:solidFill>
              <a:srgbClr val="3FB6A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(EXAMPLE)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2514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38% · Organic 30% · Mixed 32%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share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81812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indicators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7818120" y="3886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detected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626364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risk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7818120" y="4343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mixed waste complicates sorting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63640" y="4800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7818120" y="4800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263640" y="5303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clearly labeled as an AI estimate — never presented as verified fact.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show real improvement, not just activity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E38A2E"/>
          </a:solidFill>
          <a:ln/>
        </p:spPr>
      </p:sp>
      <p:pic>
        <p:nvPicPr>
          <p:cNvPr id="6" name="Image 0" descr="icons/warning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26496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risk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Health metric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9312" y="2194560"/>
            <a:ext cx="502920" cy="502920"/>
          </a:xfrm>
          <a:prstGeom prst="ellipse">
            <a:avLst/>
          </a:prstGeom>
          <a:solidFill>
            <a:srgbClr val="E4483A"/>
          </a:solidFill>
          <a:ln/>
        </p:spPr>
      </p:sp>
      <p:pic>
        <p:nvPicPr>
          <p:cNvPr id="11" name="Image 1" descr="icons/fire_0A0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21" y="22649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9312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risk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Health metric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81344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9944" y="2194560"/>
            <a:ext cx="502920" cy="50292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16" name="Image 2" descr="icons/recycle_0A0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53" y="226496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potential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Health metric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51976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80576" y="2194560"/>
            <a:ext cx="502920" cy="502920"/>
          </a:xfrm>
          <a:prstGeom prst="ellipse">
            <a:avLst/>
          </a:prstGeom>
          <a:solidFill>
            <a:srgbClr val="4FAE64"/>
          </a:solidFill>
          <a:ln/>
        </p:spPr>
      </p:sp>
      <p:pic>
        <p:nvPicPr>
          <p:cNvPr id="21" name="Image 3" descr="icons/check_0A0E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985" y="226496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0576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180576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Health metric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16052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182029"/>
          </a:solidFill>
          <a:ln w="15875">
            <a:solidFill>
              <a:srgbClr val="CF9A3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VERIFICATION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4663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→ After tracking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5166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site is marked resolved, the system snapshots its pre-cleanup recurrence and risk level — so improvement is verified against real history, not claimed for free.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hackathon build with a real production path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6" name="Image 0" descr="icons/map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9" y="217352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13055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Leaflet / OpenStreetMap — no Google Maps key required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999232"/>
            <a:ext cx="502920" cy="50292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9" name="Image 1" descr="icons/brain_0A0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9" y="3069641"/>
            <a:ext cx="362102" cy="3621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02666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vision-capable Llama model for AI waste analysis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895344"/>
            <a:ext cx="502920" cy="50292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12" name="Image 2" descr="icons/database_0A0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3965753"/>
            <a:ext cx="362102" cy="3621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9227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 — real, shared, persistent data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4791456"/>
            <a:ext cx="502920" cy="502920"/>
          </a:xfrm>
          <a:prstGeom prst="ellipse">
            <a:avLst/>
          </a:prstGeom>
          <a:solidFill>
            <a:srgbClr val="3FB6A8"/>
          </a:solidFill>
          <a:ln/>
        </p:spPr>
      </p:sp>
      <p:pic>
        <p:nvPicPr>
          <p:cNvPr id="15" name="Image 3" descr="icons/cloud_0A0E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9" y="4861865"/>
            <a:ext cx="362102" cy="3621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8188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functions — scales automatically, zero server ops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03504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3550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6355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766560" y="2286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remaining local state fully onto Supabase for true multi-user consistency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355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authenticated accounts for city operations staff, separate from public citizen access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0" y="4114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report photos to object storage as a verifiable evidence trail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35508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766560" y="5029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LWMC or a union council for a real pilot deployment and live municipal data feed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against what actually gets scored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6" name="Image 0" descr="icons/bullseye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20884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to the challenge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350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Clean City + City Intelligence — not a generic app retrofitted to fit.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11" name="Image 1" descr="icons/users_0A0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20884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/ social impact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350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Verification and City Health metrics tie every feature back to real outcomes.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3749040"/>
            <a:ext cx="548640" cy="5486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16" name="Image 2" descr="icons/brain_0A0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8258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creativity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0873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auditable priority engine — not a black-box AI score.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17920" y="352044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21" name="Image 3" descr="icons/code_0A0E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38258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execution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0873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deployed, end-to-end system: live map, real database, real AI vision.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40080" y="52578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5486400"/>
            <a:ext cx="548640" cy="5486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26" name="Image 4" descr="icons/gauge_0A0E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90" y="556321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5440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scalability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58247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architecture and open data — built to scale cheaply from day one.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217920" y="52578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141B24"/>
          </a:solidFill>
          <a:ln w="12700">
            <a:solidFill>
              <a:srgbClr val="25314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46520" y="5486400"/>
            <a:ext cx="548640" cy="54864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31" name="Image 5" descr="icons/comments_0A0E1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30" y="556321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5440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Clarity of the solution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58247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explains itself — a guided tour, live context bar, and plain-language insights.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8202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731520" cy="731520"/>
          </a:xfrm>
          <a:prstGeom prst="ellipse">
            <a:avLst/>
          </a:prstGeom>
          <a:solidFill>
            <a:srgbClr val="CF9A3E"/>
          </a:solidFill>
          <a:ln/>
        </p:spPr>
      </p:sp>
      <p:pic>
        <p:nvPicPr>
          <p:cNvPr id="4" name="Image 0" descr="icons/map_0A0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925373"/>
            <a:ext cx="526694" cy="5266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194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not building another map of Lahore’s waste.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880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building the intelligence layer that helps Lahore understand where its waste problem is — and what to do about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114800"/>
            <a:ext cx="10058400" cy="0"/>
          </a:xfrm>
          <a:prstGeom prst="line">
            <a:avLst/>
          </a:prstGeom>
          <a:noFill/>
          <a:ln w="12700">
            <a:solidFill>
              <a:srgbClr val="2531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lahore-waste-intelligence-system.vercel.app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github.com/emmasif789-pixel/lahore-waste-intelligence-system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Smart City Hackathon Lahore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2026-08-28T09:20:40Z</dcterms:created>
  <dcterms:modified xsi:type="dcterms:W3CDTF">2026-08-28T09:20:40Z</dcterms:modified>
</cp:coreProperties>
</file>